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03520"/>
            <a:ext cx="12188952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Day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1: Data Engineering &amp; RAG Foundation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Workshop: สร้าง Enterprise AI ด้วย RAG &amp; Knowledge Graphs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X-Company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วัตถุประสงค์การเรียนรู้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แนะนำ Retrieval-Augmented Generation (RAG)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การประมวลผลเอกสารและความท้าทายของ NLP ภาษาไทย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กลยุทธ์การแบ่ง Chunk และโมเดล Embedding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Vector Database และ Hybrid Search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ลงมือปฏิบัติ: สร้าง Thai RAG Pipeline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คืออะไร?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Retrieval-Augmented Generation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860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คำถาม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(Query)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154680" y="2651760"/>
            <a:ext cx="502920" cy="320040"/>
          </a:xfrm>
          <a:prstGeom prst="rightArrow">
            <a:avLst/>
          </a:prstGeom>
          <a:solidFill>
            <a:srgbClr val="0D7377"/>
          </a:solidFill>
          <a:ln/>
        </p:spPr>
      </p:sp>
      <p:sp>
        <p:nvSpPr>
          <p:cNvPr id="9" name="Shape 7"/>
          <p:cNvSpPr/>
          <p:nvPr/>
        </p:nvSpPr>
        <p:spPr>
          <a:xfrm>
            <a:off x="3749040" y="228600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2E5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22860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ค้นหา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(Retrieve)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46520" y="2651760"/>
            <a:ext cx="502920" cy="320040"/>
          </a:xfrm>
          <a:prstGeom prst="rightArrow">
            <a:avLst/>
          </a:prstGeom>
          <a:solidFill>
            <a:srgbClr val="0D7377"/>
          </a:solidFill>
          <a:ln/>
        </p:spPr>
      </p:sp>
      <p:sp>
        <p:nvSpPr>
          <p:cNvPr id="12" name="Shape 10"/>
          <p:cNvSpPr/>
          <p:nvPr/>
        </p:nvSpPr>
        <p:spPr>
          <a:xfrm>
            <a:off x="7040880" y="228600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0D73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22860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สร้างคำตอบ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(Generate)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749040"/>
            <a:ext cx="11430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ดึงเอกสารที่เกี่ยวข้องจาก Knowledge Base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เพิ่ม Context ให้ LLM → คำตอบแม่นยำขึ้น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อ้างอิงแหล่งที่มาได้ ไม่ Hallucinate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vs Fine-tuning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486400" cy="50292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54864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ไม่ต้อง Retrain โมเดล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อัปเดตความรู้ได้ทันที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อ้างอิงแหล่งที่มาได้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ต้นทุนการคำนวณต่ำกว่า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เหมาะกับ: Q&amp;A, Search, เอกสาร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188720"/>
            <a:ext cx="5486400" cy="502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11887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17920" y="1783080"/>
            <a:ext cx="54864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ต้อง Retrain โมเดล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ความรู้ถูกฝังใน Weights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ไม่มี Citation อัตโนมัติ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ต้องใช้ GPU สูง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เหมาะกับ: สไตล์, รูปแบบ, น้ำเสียง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Processing Pipeline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2377440"/>
            <a:ext cx="1554480" cy="1005840"/>
          </a:xfrm>
          <a:prstGeom prst="roundRect">
            <a:avLst>
              <a:gd name="adj" fmla="val 9091"/>
            </a:avLst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37744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ไฟล์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920240" y="2724912"/>
            <a:ext cx="502920" cy="320040"/>
          </a:xfrm>
          <a:prstGeom prst="rightArrow">
            <a:avLst/>
          </a:prstGeom>
          <a:solidFill>
            <a:srgbClr val="0D7377"/>
          </a:solidFill>
          <a:ln/>
        </p:spPr>
      </p:sp>
      <p:sp>
        <p:nvSpPr>
          <p:cNvPr id="8" name="Shape 6"/>
          <p:cNvSpPr/>
          <p:nvPr/>
        </p:nvSpPr>
        <p:spPr>
          <a:xfrm>
            <a:off x="2240280" y="2377440"/>
            <a:ext cx="1554480" cy="1005840"/>
          </a:xfrm>
          <a:prstGeom prst="roundRect">
            <a:avLst>
              <a:gd name="adj" fmla="val 9091"/>
            </a:avLst>
          </a:prstGeom>
          <a:solidFill>
            <a:srgbClr val="2E5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0280" y="237744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ข้อความ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40480" y="2724912"/>
            <a:ext cx="502920" cy="320040"/>
          </a:xfrm>
          <a:prstGeom prst="rightArrow">
            <a:avLst/>
          </a:prstGeom>
          <a:solidFill>
            <a:srgbClr val="0D7377"/>
          </a:solidFill>
          <a:ln/>
        </p:spPr>
      </p:sp>
      <p:sp>
        <p:nvSpPr>
          <p:cNvPr id="11" name="Shape 9"/>
          <p:cNvSpPr/>
          <p:nvPr/>
        </p:nvSpPr>
        <p:spPr>
          <a:xfrm>
            <a:off x="4160520" y="2377440"/>
            <a:ext cx="1554480" cy="1005840"/>
          </a:xfrm>
          <a:prstGeom prst="roundRect">
            <a:avLst>
              <a:gd name="adj" fmla="val 9091"/>
            </a:avLst>
          </a:prstGeom>
          <a:solidFill>
            <a:srgbClr val="2E5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60520" y="237744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ทำความสะอาด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760720" y="2724912"/>
            <a:ext cx="502920" cy="320040"/>
          </a:xfrm>
          <a:prstGeom prst="rightArrow">
            <a:avLst/>
          </a:prstGeom>
          <a:solidFill>
            <a:srgbClr val="0D7377"/>
          </a:solidFill>
          <a:ln/>
        </p:spPr>
      </p:sp>
      <p:sp>
        <p:nvSpPr>
          <p:cNvPr id="14" name="Shape 12"/>
          <p:cNvSpPr/>
          <p:nvPr/>
        </p:nvSpPr>
        <p:spPr>
          <a:xfrm>
            <a:off x="6080760" y="2377440"/>
            <a:ext cx="1554480" cy="1005840"/>
          </a:xfrm>
          <a:prstGeom prst="roundRect">
            <a:avLst>
              <a:gd name="adj" fmla="val 9091"/>
            </a:avLst>
          </a:prstGeom>
          <a:solidFill>
            <a:srgbClr val="0D73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237744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ตัดคำ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80960" y="2724912"/>
            <a:ext cx="502920" cy="320040"/>
          </a:xfrm>
          <a:prstGeom prst="rightArrow">
            <a:avLst/>
          </a:prstGeom>
          <a:solidFill>
            <a:srgbClr val="0D7377"/>
          </a:solidFill>
          <a:ln/>
        </p:spPr>
      </p:sp>
      <p:sp>
        <p:nvSpPr>
          <p:cNvPr id="17" name="Shape 15"/>
          <p:cNvSpPr/>
          <p:nvPr/>
        </p:nvSpPr>
        <p:spPr>
          <a:xfrm>
            <a:off x="8001000" y="2377440"/>
            <a:ext cx="1554480" cy="1005840"/>
          </a:xfrm>
          <a:prstGeom prst="roundRect">
            <a:avLst>
              <a:gd name="adj" fmla="val 9091"/>
            </a:avLst>
          </a:prstGeom>
          <a:solidFill>
            <a:srgbClr val="2E5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01000" y="237744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แบ่งส่วน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601200" y="2724912"/>
            <a:ext cx="502920" cy="320040"/>
          </a:xfrm>
          <a:prstGeom prst="rightArrow">
            <a:avLst/>
          </a:prstGeom>
          <a:solidFill>
            <a:srgbClr val="0D7377"/>
          </a:solidFill>
          <a:ln/>
        </p:spPr>
      </p:sp>
      <p:sp>
        <p:nvSpPr>
          <p:cNvPr id="20" name="Shape 18"/>
          <p:cNvSpPr/>
          <p:nvPr/>
        </p:nvSpPr>
        <p:spPr>
          <a:xfrm>
            <a:off x="9921240" y="2377440"/>
            <a:ext cx="1554480" cy="1005840"/>
          </a:xfrm>
          <a:prstGeom prst="roundRect">
            <a:avLst>
              <a:gd name="adj" fmla="val 9091"/>
            </a:avLst>
          </a:prstGeom>
          <a:solidFill>
            <a:srgbClr val="0D73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21240" y="237744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สร้าง Vector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37490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ข้อความแต่ละ Chunk จะถูกแปลงเป็น Vector Embedding สำหรับจัดเก็บใน Vector Database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ความท้าทายของ Thai NLP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ไม่มีช่องว่างระหว่างคำ → ต้องตัดคำก่อน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ประโยคเดียวกันอาจตัดคำได้หลายแบบ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กฎการสะกดและวรรณยุกต์ที่ซับซ้อน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ข้อความผสมไทย-อังกฤษพบบ่อย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ทรัพยากร Open-source น้อยกว่าภาษาอังกฤษ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แนวทาง: PyThaiNLP + Custom Dictionary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PyThaiNLP Demo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430000" cy="54864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pythainlp.tokenize import word_tokenize</a:t>
            </a:r>
            <a:pPr indent="0" marL="0">
              <a:spcAft>
                <a:spcPts val="200"/>
              </a:spcAft>
              <a:buNone/>
            </a:pP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ข้อความภาษาไทยไม่มีช่องว่าง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= "ฉันชอบกินข้าวผัดกุ้ง"</a:t>
            </a:r>
            <a:pPr indent="0" marL="0">
              <a:spcAft>
                <a:spcPts val="200"/>
              </a:spcAft>
              <a:buNone/>
            </a:pP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ตัดคำด้วย Engine ต่างๆ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tokens_newmm = word_tokenize(text, engine="newmm")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["ฉัน", "ชอบ", "กิน", "ข้าวผัด", "กุ้ง"]</a:t>
            </a:r>
            <a:pPr indent="0" marL="0">
              <a:spcAft>
                <a:spcPts val="200"/>
              </a:spcAft>
              <a:buNone/>
            </a:pP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tokens_attacut = word_tokenize(text, engine="attacut")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["ฉัน", "ชอบ", "กิน", "ข้าว", "ผัด", "กุ้ง"]</a:t>
            </a:r>
            <a:pPr indent="0" marL="0">
              <a:spcAft>
                <a:spcPts val="200"/>
              </a:spcAft>
              <a:buNone/>
            </a:pP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แบ่งประโยค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pythainlp.tokenize import sent_tokenize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sentences = sent_tokenize(paragraph)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กลยุทธ์การแบ่ง Chunk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474720" cy="4114800"/>
          </a:xfrm>
          <a:prstGeom prst="roundRect">
            <a:avLst>
              <a:gd name="adj" fmla="val 2632"/>
            </a:avLst>
          </a:prstGeom>
          <a:solidFill>
            <a:srgbClr val="2E5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3474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Size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256–512 tokens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เรียบง่าย รวดเร็ว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อาจตัดกลางบริบท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3474720" cy="4114800"/>
          </a:xfrm>
          <a:prstGeom prst="roundRect">
            <a:avLst>
              <a:gd name="adj" fmla="val 2632"/>
            </a:avLst>
          </a:prstGeom>
          <a:solidFill>
            <a:srgbClr val="0D73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1463040"/>
            <a:ext cx="3474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Recursive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แบ่งตาม paragraph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ประโยค → token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รักษาโครงสร้าง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38160" y="1463040"/>
            <a:ext cx="3474720" cy="4114800"/>
          </a:xfrm>
          <a:prstGeom prst="roundRect">
            <a:avLst>
              <a:gd name="adj" fmla="val 2632"/>
            </a:avLst>
          </a:prstGeom>
          <a:solidFill>
            <a:srgbClr val="7B3F9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0" y="1463040"/>
            <a:ext cx="3474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ใช้ Embedding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จัดกลุ่มเนื้อหาใกล้เคียง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คุณภาพดีที่สุด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576072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เลือก Strategy ตาม Use case: Fixed (เร็ว) → Recursive (สมดุล) → Semantic (คุณภาพสูง)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คืออะไร?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แปลงข้อความเป็น Vector ตัวเลขที่หนาแน่น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ข้อความที่มีความหมายใกล้เคียง → Vector ใกล้กัน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Space: แต่ละมิติ = คุณลักษณะที่เรียนรู้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จำนวนมิติทั่วไป: 768, 1024, 1536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ใช้ได้กับ: Similarity Search, Clustering, Classification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ตัวอย่าง: "แมว" ≈ "ลูกแมว" &gt;&gt; "รถ" ใน Vector Space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โมเดล Embedding เปรียบเทียบ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486400" cy="50292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bge-m3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54864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รองรับหลายภาษา (100+ ภาษา)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มิติ: 1024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Context: 8192 tokens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(BAAI)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รองรับภาษาไทยได้ดีเยี่ยม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รันบนเครื่องด้วย Ollama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188720"/>
            <a:ext cx="5486400" cy="502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11887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nomic-embed-text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17920" y="1783080"/>
            <a:ext cx="54864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เน้นภาษาอังกฤษ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มิติ: 768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Context: 8192 tokens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(Nomic AI)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เร็วและเบา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เหมาะกับเอกสารภาษาอังกฤษ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แนวคิด Vector Database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Store: บันทึก Embedding พร้อม Metadata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Index: สร้าง ANN Index (HNSW, IVF)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Search: ค้นหา k-nearest neighbor ด้วย Cosine Similarity</a:t>
            </a:r>
            <a:endParaRPr lang="en-US" sz="1800" dirty="0"/>
          </a:p>
          <a:p>
            <a:pPr>
              <a:spcAft>
                <a:spcPts val="600"/>
              </a:spcAft>
            </a:pP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Approximate Nearest Neighbor (ANN) เร็วแต่ประมาณค่า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ความเร็ว ↔ ความแม่นยำ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ที่นิยม: Qdrant, Weaviate, Pinecone, Milvus, pgvector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สถาปัตยกรรมของ Qdrant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Collections → เหมือน Table ในฐานข้อมูล (แยกตาม Domain)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→ แต่ละ Record (id + vector + payload)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Payload → JSON Metadata (กรองได้)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Vectors → หลาย Embedding ต่อ Point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Sparse Vectors → BM25/SPLADE สำหรับ Keyword Search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Quantization → บีบอัด Vector ลดการใช้หน่วยความจำ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&amp; gRPC API พร้อม Docker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Search: Dense + Sparse + Reranking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คำถามผู้ใช้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44168" y="2286000"/>
            <a:ext cx="320040" cy="457200"/>
          </a:xfrm>
          <a:prstGeom prst="downArrow">
            <a:avLst/>
          </a:prstGeom>
          <a:solidFill>
            <a:srgbClr val="0D7377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283464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2E5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8346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(Embedding)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017520" y="283464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2E5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28346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(BM25)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697480" y="1737360"/>
            <a:ext cx="502920" cy="320040"/>
          </a:xfrm>
          <a:prstGeom prst="rightArrow">
            <a:avLst/>
          </a:prstGeom>
          <a:solidFill>
            <a:srgbClr val="0D7377"/>
          </a:solidFill>
          <a:ln/>
        </p:spPr>
      </p:sp>
      <p:sp>
        <p:nvSpPr>
          <p:cNvPr id="13" name="Shape 11"/>
          <p:cNvSpPr/>
          <p:nvPr/>
        </p:nvSpPr>
        <p:spPr>
          <a:xfrm>
            <a:off x="4041648" y="2286000"/>
            <a:ext cx="320040" cy="457200"/>
          </a:xfrm>
          <a:prstGeom prst="downArrow">
            <a:avLst/>
          </a:prstGeom>
          <a:solidFill>
            <a:srgbClr val="0D7377"/>
          </a:solidFill>
          <a:ln/>
        </p:spPr>
      </p:sp>
      <p:sp>
        <p:nvSpPr>
          <p:cNvPr id="14" name="Shape 12"/>
          <p:cNvSpPr/>
          <p:nvPr/>
        </p:nvSpPr>
        <p:spPr>
          <a:xfrm>
            <a:off x="5760720" y="283464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0D73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28346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รวม Result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(Fusion)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349240" y="3246120"/>
            <a:ext cx="502920" cy="320040"/>
          </a:xfrm>
          <a:prstGeom prst="rightArrow">
            <a:avLst/>
          </a:prstGeom>
          <a:solidFill>
            <a:srgbClr val="0D7377"/>
          </a:solidFill>
          <a:ln/>
        </p:spPr>
      </p:sp>
      <p:sp>
        <p:nvSpPr>
          <p:cNvPr id="17" name="Shape 15"/>
          <p:cNvSpPr/>
          <p:nvPr/>
        </p:nvSpPr>
        <p:spPr>
          <a:xfrm>
            <a:off x="8321040" y="283464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7B3F9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28346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Reranker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(Cross-encoder)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652760" y="3246120"/>
            <a:ext cx="502920" cy="320040"/>
          </a:xfrm>
          <a:prstGeom prst="rightArrow">
            <a:avLst/>
          </a:prstGeom>
          <a:solidFill>
            <a:srgbClr val="0D7377"/>
          </a:solidFill>
          <a:ln/>
        </p:spPr>
      </p:sp>
      <p:sp>
        <p:nvSpPr>
          <p:cNvPr id="20" name="Shape 18"/>
          <p:cNvSpPr/>
          <p:nvPr/>
        </p:nvSpPr>
        <p:spPr>
          <a:xfrm>
            <a:off x="9875520" y="466344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0" y="46634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ผลลัพธ์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สุดท้าย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808208" y="3703320"/>
            <a:ext cx="320040" cy="457200"/>
          </a:xfrm>
          <a:prstGeom prst="downArrow">
            <a:avLst/>
          </a:prstGeom>
          <a:solidFill>
            <a:srgbClr val="0D7377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 vs Dense Search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486400" cy="50292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 (Sparse)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54864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จับคู่ตาม Keyword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ค้นหาคำตรงๆ ได้ดี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เร็ว ตีความได้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ดีสำหรับคำศัพท์เทคนิค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ไม่เข้าใจความหมาย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พัฒนาจาก TF-IDF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188720"/>
            <a:ext cx="5486400" cy="502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11887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Search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17920" y="1783080"/>
            <a:ext cx="54864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Similarity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เข้าใจ Synonym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ช้ากว่า (ANN Index)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พลาด Keyword หายาก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จับบริบทได้ดี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ใช้ Embedding เป็นฐาน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RAG Pipeline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1005840" cy="685800"/>
          </a:xfrm>
          <a:prstGeom prst="roundRect">
            <a:avLst>
              <a:gd name="adj" fmla="val 13333"/>
            </a:avLst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โหลดเอกสาร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98448" y="1664208"/>
            <a:ext cx="502920" cy="320040"/>
          </a:xfrm>
          <a:prstGeom prst="rightArrow">
            <a:avLst/>
          </a:prstGeom>
          <a:solidFill>
            <a:srgbClr val="0D7377"/>
          </a:solidFill>
          <a:ln/>
        </p:spPr>
      </p:sp>
      <p:sp>
        <p:nvSpPr>
          <p:cNvPr id="8" name="Shape 6"/>
          <p:cNvSpPr/>
          <p:nvPr/>
        </p:nvSpPr>
        <p:spPr>
          <a:xfrm>
            <a:off x="1691640" y="1371600"/>
            <a:ext cx="1005840" cy="685800"/>
          </a:xfrm>
          <a:prstGeom prst="roundRect">
            <a:avLst>
              <a:gd name="adj" fmla="val 13333"/>
            </a:avLst>
          </a:prstGeom>
          <a:solidFill>
            <a:srgbClr val="2E5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91640" y="137160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ตัดคำ/Chunk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15768" y="1664208"/>
            <a:ext cx="502920" cy="320040"/>
          </a:xfrm>
          <a:prstGeom prst="rightArrow">
            <a:avLst/>
          </a:prstGeom>
          <a:solidFill>
            <a:srgbClr val="0D7377"/>
          </a:solidFill>
          <a:ln/>
        </p:spPr>
      </p:sp>
      <p:sp>
        <p:nvSpPr>
          <p:cNvPr id="11" name="Shape 9"/>
          <p:cNvSpPr/>
          <p:nvPr/>
        </p:nvSpPr>
        <p:spPr>
          <a:xfrm>
            <a:off x="3108960" y="1371600"/>
            <a:ext cx="1005840" cy="685800"/>
          </a:xfrm>
          <a:prstGeom prst="roundRect">
            <a:avLst>
              <a:gd name="adj" fmla="val 13333"/>
            </a:avLst>
          </a:prstGeom>
          <a:solidFill>
            <a:srgbClr val="2E5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37160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สร้าง Embedding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33088" y="1664208"/>
            <a:ext cx="502920" cy="320040"/>
          </a:xfrm>
          <a:prstGeom prst="rightArrow">
            <a:avLst/>
          </a:prstGeom>
          <a:solidFill>
            <a:srgbClr val="0D7377"/>
          </a:solidFill>
          <a:ln/>
        </p:spPr>
      </p:sp>
      <p:sp>
        <p:nvSpPr>
          <p:cNvPr id="14" name="Shape 12"/>
          <p:cNvSpPr/>
          <p:nvPr/>
        </p:nvSpPr>
        <p:spPr>
          <a:xfrm>
            <a:off x="4526280" y="1371600"/>
            <a:ext cx="1005840" cy="685800"/>
          </a:xfrm>
          <a:prstGeom prst="roundRect">
            <a:avLst>
              <a:gd name="adj" fmla="val 13333"/>
            </a:avLst>
          </a:prstGeom>
          <a:solidFill>
            <a:srgbClr val="0D73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137160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จัดเก็บ Qdrant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" y="10972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Indexing Phase ]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926080"/>
            <a:ext cx="1737360" cy="685800"/>
          </a:xfrm>
          <a:prstGeom prst="roundRect">
            <a:avLst>
              <a:gd name="adj" fmla="val 13333"/>
            </a:avLst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9260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Query ผู้ใช้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029968" y="3218688"/>
            <a:ext cx="502920" cy="320040"/>
          </a:xfrm>
          <a:prstGeom prst="rightArrow">
            <a:avLst/>
          </a:prstGeom>
          <a:solidFill>
            <a:srgbClr val="0D7377"/>
          </a:solidFill>
          <a:ln/>
        </p:spPr>
      </p:sp>
      <p:sp>
        <p:nvSpPr>
          <p:cNvPr id="20" name="Shape 18"/>
          <p:cNvSpPr/>
          <p:nvPr/>
        </p:nvSpPr>
        <p:spPr>
          <a:xfrm>
            <a:off x="2194560" y="2926080"/>
            <a:ext cx="1737360" cy="685800"/>
          </a:xfrm>
          <a:prstGeom prst="roundRect">
            <a:avLst>
              <a:gd name="adj" fmla="val 13333"/>
            </a:avLst>
          </a:prstGeom>
          <a:solidFill>
            <a:srgbClr val="2E5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94560" y="29260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Query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950208" y="3218688"/>
            <a:ext cx="502920" cy="320040"/>
          </a:xfrm>
          <a:prstGeom prst="rightArrow">
            <a:avLst/>
          </a:prstGeom>
          <a:solidFill>
            <a:srgbClr val="0D7377"/>
          </a:solidFill>
          <a:ln/>
        </p:spPr>
      </p:sp>
      <p:sp>
        <p:nvSpPr>
          <p:cNvPr id="23" name="Shape 21"/>
          <p:cNvSpPr/>
          <p:nvPr/>
        </p:nvSpPr>
        <p:spPr>
          <a:xfrm>
            <a:off x="4114800" y="2926080"/>
            <a:ext cx="1737360" cy="685800"/>
          </a:xfrm>
          <a:prstGeom prst="roundRect">
            <a:avLst>
              <a:gd name="adj" fmla="val 13333"/>
            </a:avLst>
          </a:prstGeom>
          <a:solidFill>
            <a:srgbClr val="2E5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0" y="29260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ค้นหา Vector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870448" y="3218688"/>
            <a:ext cx="502920" cy="320040"/>
          </a:xfrm>
          <a:prstGeom prst="rightArrow">
            <a:avLst/>
          </a:prstGeom>
          <a:solidFill>
            <a:srgbClr val="0D7377"/>
          </a:solidFill>
          <a:ln/>
        </p:spPr>
      </p:sp>
      <p:sp>
        <p:nvSpPr>
          <p:cNvPr id="26" name="Shape 24"/>
          <p:cNvSpPr/>
          <p:nvPr/>
        </p:nvSpPr>
        <p:spPr>
          <a:xfrm>
            <a:off x="6035040" y="2926080"/>
            <a:ext cx="1737360" cy="685800"/>
          </a:xfrm>
          <a:prstGeom prst="roundRect">
            <a:avLst>
              <a:gd name="adj" fmla="val 13333"/>
            </a:avLst>
          </a:prstGeom>
          <a:solidFill>
            <a:srgbClr val="0D73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29260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เพิ่ม Context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790688" y="3218688"/>
            <a:ext cx="502920" cy="320040"/>
          </a:xfrm>
          <a:prstGeom prst="rightArrow">
            <a:avLst/>
          </a:prstGeom>
          <a:solidFill>
            <a:srgbClr val="0D7377"/>
          </a:solidFill>
          <a:ln/>
        </p:spPr>
      </p:sp>
      <p:sp>
        <p:nvSpPr>
          <p:cNvPr id="29" name="Shape 27"/>
          <p:cNvSpPr/>
          <p:nvPr/>
        </p:nvSpPr>
        <p:spPr>
          <a:xfrm>
            <a:off x="7955280" y="2926080"/>
            <a:ext cx="1737360" cy="685800"/>
          </a:xfrm>
          <a:prstGeom prst="roundRect">
            <a:avLst>
              <a:gd name="adj" fmla="val 13333"/>
            </a:avLst>
          </a:prstGeom>
          <a:solidFill>
            <a:srgbClr val="2E5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0" y="29260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Generate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710928" y="3218688"/>
            <a:ext cx="502920" cy="320040"/>
          </a:xfrm>
          <a:prstGeom prst="rightArrow">
            <a:avLst/>
          </a:prstGeom>
          <a:solidFill>
            <a:srgbClr val="0D7377"/>
          </a:solidFill>
          <a:ln/>
        </p:spPr>
      </p:sp>
      <p:sp>
        <p:nvSpPr>
          <p:cNvPr id="32" name="Shape 30"/>
          <p:cNvSpPr/>
          <p:nvPr/>
        </p:nvSpPr>
        <p:spPr>
          <a:xfrm>
            <a:off x="9875520" y="2926080"/>
            <a:ext cx="1737360" cy="685800"/>
          </a:xfrm>
          <a:prstGeom prst="roundRect">
            <a:avLst>
              <a:gd name="adj" fmla="val 13333"/>
            </a:avLst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75520" y="29260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คำตอบ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74320" y="2651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Query Phase ]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Pipeline — Code Walkthrough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430000" cy="54864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โหลดและแบ่ง Chunk เอกสาร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chunks = load_and_chunk_documents("docs/", chunk_size=512)</a:t>
            </a:r>
            <a:pPr indent="0" marL="0">
              <a:spcAft>
                <a:spcPts val="200"/>
              </a:spcAft>
              <a:buNone/>
            </a:pP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สร้าง Embedding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embeddings = embed_model.encode(chunks)  # shape: (N, 1024)</a:t>
            </a:r>
            <a:pPr indent="0" marL="0">
              <a:spcAft>
                <a:spcPts val="200"/>
              </a:spcAft>
              <a:buNone/>
            </a:pP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บันทึกใน Qdrant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qdrant.upsert(collection="thai-rag",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points=[PointStruct(id=i, vector=emb, payload={"text": c})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for i, (c, emb) in enumerate(zip(chunks, embeddings))])</a:t>
            </a:r>
            <a:pPr indent="0" marL="0">
              <a:spcAft>
                <a:spcPts val="200"/>
              </a:spcAft>
              <a:buNone/>
            </a:pP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Query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query_vec = embed_model.encode(user_query)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 = qdrant.search(collection="thai-rag", query_vector=query_vec, limit=5)</a:t>
            </a:r>
            <a:pPr indent="0" marL="0">
              <a:spcAft>
                <a:spcPts val="200"/>
              </a:spcAft>
              <a:buNone/>
            </a:pP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5. สร้างคำตอบด้วย LLM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 = "\n".join([r.payload["text"] for r in results])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= llm.chat(f"บริบท:\n{context}\n\nคำถาม: {user_query}")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ปัญหาที่พบบ่อยใน RAG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Hallucination — LLM เพิ่มข้อมูลนอก Context → บังคับอ้างอิง Citation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Context Window เกิน — ดึงข้อความมากเกินไป → ปรับ top-k และ chunk size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ดึงข้อมูลผิด — Chunk ไม่ตรงกับคำถาม → ปรับ Embedding + Reranking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Lost-in-the-middle — LLM ละเลยบริบทกลาง → จัดเรียง Result ใหม่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ข้อมูลล้าสมัย — เอกสารใหม่ไม่ถูก Index → ทำ Incremental Upsert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ภาษาไม่ตรง — Query ภาษาไทย เอกสารภาษาอังกฤษ → Cross-lingual Embed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ภาพรวมของ Hands-on Exercise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  สภาพแวดล้อม: Python 3.10+, Docker, Ollama, Qdrant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 Dataset: เอกสารนโยบายบริษัท (PDF ภาษาไทย)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 เครื่องมือ: PyThaiNLP, bge-m3 via Ollama, Qdrant, FastAPI</a:t>
            </a:r>
            <a:endParaRPr lang="en-US" sz="1800" dirty="0"/>
          </a:p>
          <a:p>
            <a:pPr>
              <a:spcAft>
                <a:spcPts val="600"/>
              </a:spcAft>
            </a:pP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ขั้นตอน: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1. โหลด PDF ด้วย pdfplumber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2. ตัดคำภาษาไทยด้วย PyThaiNLP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3. แบ่ง Chunk ด้วย RecursiveTextSplitter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4. สร้าง Embedding ด้วย bge-m3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5. บันทึกใน Qdrant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6. สร้าง FastAPI Chat Endpoint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Exercise: สร้าง Thai RAG Pipeline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430000" cy="54864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Clone Workshop Repo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https://github.com/x-company/ai-workshop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ai-workshop/day1-rag</a:t>
            </a:r>
            <a:pPr indent="0" marL="0">
              <a:spcAft>
                <a:spcPts val="200"/>
              </a:spcAft>
              <a:buNone/>
            </a:pP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เริ่ม Services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  # Qdrant + Ollama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pull bge-m3</a:t>
            </a:r>
            <a:pPr indent="0" marL="0">
              <a:spcAft>
                <a:spcPts val="200"/>
              </a:spcAft>
              <a:buNone/>
            </a:pP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รัน Exercise Notebook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jupyter lab notebooks/01_thai_rag.ipynb</a:t>
            </a:r>
            <a:pPr indent="0" marL="0">
              <a:spcAft>
                <a:spcPts val="200"/>
              </a:spcAft>
              <a:buNone/>
            </a:pP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หรือรัน Script โดยตรง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exercise/build_rag.py --docs data/thai_docs/</a:t>
            </a:r>
            <a:pPr indent="0" marL="0">
              <a:spcAft>
                <a:spcPts val="200"/>
              </a:spcAft>
              <a:buNone/>
            </a:pP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ทดสอบ Pipeline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exercise/test_rag.py --query "นโยบายวันลาพักร้อนคือ?"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12188952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สรุป Day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3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สรุป Day 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RAG = ดึงบริบทที่เกี่ยวข้อง → สร้างคำตอบที่แม่นยำ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Thai NLP ต้องมีการตัดคำก่อน (PyThaiNLP)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Chunk Size และกลยุทธ์ส่งผลต่อคุณภาพการค้นหามาก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Embedding แปลงข้อความเป็น Semantic Vector Space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Qdrant รองรับ Hybrid Search (Dense + Sparse)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Basic RAG: Load → Chunk → Embed → Store → Retrieve → Generate</a:t>
            </a:r>
            <a:endParaRPr lang="en-US" sz="1800" dirty="0"/>
          </a:p>
          <a:p>
            <a:pPr>
              <a:spcAft>
                <a:spcPts val="600"/>
              </a:spcAft>
            </a:pP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พรุ่งนี้: Knowledge Graphs + GraphRAG สำหรับการวิเคราะห์ซับซ้อน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2026-03-08T01:35:56Z</dcterms:created>
  <dcterms:modified xsi:type="dcterms:W3CDTF">2026-03-08T01:35:56Z</dcterms:modified>
</cp:coreProperties>
</file>