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303520"/>
            <a:ext cx="12188952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Day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3: AI Agents &amp; AI Operating System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Workshop: Build Enterprise AI with RAG &amp; Knowledge Graphs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X-Company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&amp; Objectives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AI Agent fundamentals &amp; architecture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Multi-agent systems &amp; communication patterns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AI Operating System (AI OS) concepts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Evaluation: RAGAS, LLM-as-Judge, A/B Testing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Capstone: Build Enterprise AI Assistant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an AI Agent?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autonomous system that perceives, reasons, and acts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Perceive: receive input (text, data, sensor)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Think: LLM reasons about goal and context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Act: call tools, write files, send messages</a:t>
            </a:r>
            <a:endParaRPr lang="en-US" sz="1800" dirty="0"/>
          </a:p>
          <a:p>
            <a:pPr>
              <a:spcAft>
                <a:spcPts val="600"/>
              </a:spcAft>
            </a:pP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difference from chatbot: agents can take actions!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loop: Perceive → Think → Act → Observe → Repeat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 ReAct, AutoGPT, Claude Computer Use, OpenClaw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Architecture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0" y="1371600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0" y="137160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(Reasoning Core)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3017520"/>
            <a:ext cx="2286000" cy="822960"/>
          </a:xfrm>
          <a:prstGeom prst="roundRect">
            <a:avLst>
              <a:gd name="adj" fmla="val 11111"/>
            </a:avLst>
          </a:prstGeom>
          <a:solidFill>
            <a:srgbClr val="2E5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30175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Tools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108960" y="3017520"/>
            <a:ext cx="2286000" cy="822960"/>
          </a:xfrm>
          <a:prstGeom prst="roundRect">
            <a:avLst>
              <a:gd name="adj" fmla="val 11111"/>
            </a:avLst>
          </a:prstGeom>
          <a:solidFill>
            <a:srgbClr val="0D73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0" y="30175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Memory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0" y="3017520"/>
            <a:ext cx="2286000" cy="822960"/>
          </a:xfrm>
          <a:prstGeom prst="roundRect">
            <a:avLst>
              <a:gd name="adj" fmla="val 11111"/>
            </a:avLst>
          </a:prstGeom>
          <a:solidFill>
            <a:srgbClr val="2E5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30175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Planning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778240" y="3017520"/>
            <a:ext cx="2286000" cy="822960"/>
          </a:xfrm>
          <a:prstGeom prst="roundRect">
            <a:avLst>
              <a:gd name="adj" fmla="val 11111"/>
            </a:avLst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0" y="30175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 Channel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237744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206240" y="237744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040880" y="237744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875520" y="237744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57200" y="42062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is the reasoning core, coordinating tools, memory, planning, and communication channels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Tool-Use / Function Calling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430000" cy="54864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Define tool schema (OpenAI format)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 = [{"type": "function",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"function": {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"name": "search_documents",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"description": "Search company knowledge base",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"parameters": {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"type": "object",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"properties": {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"query": {"type": "string", "description": "Search query"},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"limit": {"type": "integer", "default": 5}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}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}}}]</a:t>
            </a:r>
            <a:pPr indent="0" marL="0">
              <a:spcAft>
                <a:spcPts val="200"/>
              </a:spcAft>
              <a:buNone/>
            </a:pP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LLM decides which tool to call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client.chat.completions.create(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model="gpt-4o", messages=messages, tools=tools)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Agent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+ Knowledge Base = RAG Agent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decides WHEN to retrieve (not always)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retrieve from multiple sources in one turn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Self-RAG: LLM evaluates if retrieval is needed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RAG: routes to different retrieval strategies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Tools: search_docs, search_graph, search_web, calculate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Memory: conversation history + retrieved context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Systems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 agent coordinates specialist agents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 agents: HR, Finance, Engineering, Sales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Benefits: separation of concerns, parallel execution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 decides: which agent handles this query?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aggregation: merge outputs from multiple agents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handling: retry failed sub-agent tasks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OpenClaw multi-persona routing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Communication Patterns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645920"/>
            <a:ext cx="822960" cy="548640"/>
          </a:xfrm>
          <a:prstGeom prst="roundRect">
            <a:avLst>
              <a:gd name="adj" fmla="val 16667"/>
            </a:avLst>
          </a:prstGeom>
          <a:solidFill>
            <a:srgbClr val="2E5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6459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43000" y="1828800"/>
            <a:ext cx="502920" cy="320040"/>
          </a:xfrm>
          <a:prstGeom prst="rightArrow">
            <a:avLst/>
          </a:prstGeom>
          <a:solidFill>
            <a:srgbClr val="0D7377"/>
          </a:solidFill>
          <a:ln/>
        </p:spPr>
      </p:sp>
      <p:sp>
        <p:nvSpPr>
          <p:cNvPr id="9" name="Shape 7"/>
          <p:cNvSpPr/>
          <p:nvPr/>
        </p:nvSpPr>
        <p:spPr>
          <a:xfrm>
            <a:off x="1691640" y="1645920"/>
            <a:ext cx="822960" cy="548640"/>
          </a:xfrm>
          <a:prstGeom prst="roundRect">
            <a:avLst>
              <a:gd name="adj" fmla="val 16667"/>
            </a:avLst>
          </a:prstGeom>
          <a:solidFill>
            <a:srgbClr val="2E5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91640" y="16459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560320" y="1828800"/>
            <a:ext cx="502920" cy="320040"/>
          </a:xfrm>
          <a:prstGeom prst="rightArrow">
            <a:avLst/>
          </a:prstGeom>
          <a:solidFill>
            <a:srgbClr val="0D7377"/>
          </a:solidFill>
          <a:ln/>
        </p:spPr>
      </p:sp>
      <p:sp>
        <p:nvSpPr>
          <p:cNvPr id="12" name="Shape 10"/>
          <p:cNvSpPr/>
          <p:nvPr/>
        </p:nvSpPr>
        <p:spPr>
          <a:xfrm>
            <a:off x="3108960" y="1645920"/>
            <a:ext cx="822960" cy="548640"/>
          </a:xfrm>
          <a:prstGeom prst="roundRect">
            <a:avLst>
              <a:gd name="adj" fmla="val 16667"/>
            </a:avLst>
          </a:prstGeom>
          <a:solidFill>
            <a:srgbClr val="0D73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0" y="16459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0" y="1645920"/>
            <a:ext cx="914400" cy="548640"/>
          </a:xfrm>
          <a:prstGeom prst="roundRect">
            <a:avLst>
              <a:gd name="adj" fmla="val 16667"/>
            </a:avLst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16459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26480" y="1371600"/>
            <a:ext cx="822960" cy="502920"/>
          </a:xfrm>
          <a:prstGeom prst="roundRect">
            <a:avLst>
              <a:gd name="adj" fmla="val 18182"/>
            </a:avLst>
          </a:prstGeom>
          <a:solidFill>
            <a:srgbClr val="2E5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3716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26480" y="1920240"/>
            <a:ext cx="822960" cy="502920"/>
          </a:xfrm>
          <a:prstGeom prst="roundRect">
            <a:avLst>
              <a:gd name="adj" fmla="val 18182"/>
            </a:avLst>
          </a:prstGeom>
          <a:solidFill>
            <a:srgbClr val="2E5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192024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26480" y="2468880"/>
            <a:ext cx="822960" cy="502920"/>
          </a:xfrm>
          <a:prstGeom prst="roundRect">
            <a:avLst>
              <a:gd name="adj" fmla="val 18182"/>
            </a:avLst>
          </a:prstGeom>
          <a:solidFill>
            <a:srgbClr val="2E5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246888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532120" y="1828800"/>
            <a:ext cx="502920" cy="320040"/>
          </a:xfrm>
          <a:prstGeom prst="rightArrow">
            <a:avLst/>
          </a:prstGeom>
          <a:solidFill>
            <a:srgbClr val="0D7377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229600" y="1645920"/>
            <a:ext cx="914400" cy="548640"/>
          </a:xfrm>
          <a:prstGeom prst="roundRect">
            <a:avLst>
              <a:gd name="adj" fmla="val 16667"/>
            </a:avLst>
          </a:prstGeom>
          <a:solidFill>
            <a:srgbClr val="0D73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0" y="16459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784080" y="1371600"/>
            <a:ext cx="914400" cy="502920"/>
          </a:xfrm>
          <a:prstGeom prst="roundRect">
            <a:avLst>
              <a:gd name="adj" fmla="val 18182"/>
            </a:avLst>
          </a:prstGeom>
          <a:solidFill>
            <a:srgbClr val="2E5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84080" y="137160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784080" y="1920240"/>
            <a:ext cx="914400" cy="502920"/>
          </a:xfrm>
          <a:prstGeom prst="roundRect">
            <a:avLst>
              <a:gd name="adj" fmla="val 18182"/>
            </a:avLst>
          </a:prstGeom>
          <a:solidFill>
            <a:srgbClr val="2E5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84080" y="19202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784080" y="2468880"/>
            <a:ext cx="914400" cy="502920"/>
          </a:xfrm>
          <a:prstGeom prst="roundRect">
            <a:avLst>
              <a:gd name="adj" fmla="val 18182"/>
            </a:avLst>
          </a:prstGeom>
          <a:solidFill>
            <a:srgbClr val="2E5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784080" y="24688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189720" y="1828800"/>
            <a:ext cx="502920" cy="320040"/>
          </a:xfrm>
          <a:prstGeom prst="rightArrow">
            <a:avLst/>
          </a:prstGeom>
          <a:solidFill>
            <a:srgbClr val="0D7377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3474720"/>
            <a:ext cx="114300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Sequential: tasks depend on each other (A1 output → A2 input)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Parallel: independent tasks run simultaneously → merge results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Routing: orchestrator picks the right specialist agent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an AI Operating System?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layer for AI agents — like an OS for apps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Manages: agents lifecycle, memory, skills, scheduling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Provides: tool registry, auth, logging, monitoring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Multi-channel: Telegram, Discord, Email, REST API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Proactive: heartbeat scheduler for background tasks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Persistent: survives restarts with memory continuity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OpenClaw (used in this workshop)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OS Components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Agents — LLM-powered reasoning cores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Skills — pluggable tool modules (SKILL.md)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Memory — short-term (context) + long-term (files)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💓 Heartbeat — proactive scheduler (cron-like)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 Channels — Telegram, Discord, HTTP integrations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🗂  Workspace — persistent file system for agents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Auth — per-user permissions and access control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 Architecture Overview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daemon running on macOS/Linux/Raspberry Pi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Multi-session: each user gets isolated agent session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system: install/update skills from ClawHub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Heartbeat: configurable interval, silent background checks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Memory: SOUL.md (identity) + MEMORY.md + daily logs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Sub-agents: spawn parallel workers for heavy tasks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Security: skill policies, tool whitelisting, data isolation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Systems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Short-term Memory: active conversation context window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 Long-term Memory: MEMORY.md — curated key facts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Episodic Memory: daily logs (memory/YYYY-MM-DD.md)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  Semantic Memory: knowledge base (RAG / Knowledge Graph)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Procedural Memory: skills &amp; tool usage patterns</a:t>
            </a:r>
            <a:endParaRPr lang="en-US" sz="1800" dirty="0"/>
          </a:p>
          <a:p>
            <a:pPr>
              <a:spcAft>
                <a:spcPts val="600"/>
              </a:spcAft>
            </a:pP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write to memory files → survive session restarts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Heartbeat: review daily logs → update long-term memory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Heartbeat &amp; Proactive Monitoring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Heartbeat = scheduled background agent activation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Configurable interval (default: every 30 min)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HEARTBEAT.md: defines what to check each run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Checks: email, calendar, system health, data alerts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Proactive: agent reaches out when something needs attention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mode: HEARTBEAT_OK when nothing needs action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 jobs: for exact-time scheduled tasks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&amp; Tool Integration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= reusable tool bundles (SKILL.md + scripts)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skill: description, commands, usage examples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Install: openclaw skill install &lt;name&gt;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Built-in: weather, email, github, gog, pptx, pdf, whisper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Custom: create skill-creator for new tools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ClawHub: public skill registry (like npm for agents)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policy: allowlist/denylist per skill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RAGAS Evaluation Framework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RAGAS = RAG Assessment framework (Python)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evaluation using LLM-as-Judge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human labels needed (reference-free metrics)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Evaluates: answer quality + retrieval quality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Metrics: Faithfulness, Answer Relevance, Context Precision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Also: Context Recall, Answer Correctness, Harmlessness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integration: evaluate every RAG pipeline change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RAGAS Metrics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Faithfulness: answer is grounded in retrieved context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Score 0–1: 1 = fully supported by context</a:t>
            </a:r>
            <a:endParaRPr lang="en-US" sz="1800" dirty="0"/>
          </a:p>
          <a:p>
            <a:pPr>
              <a:spcAft>
                <a:spcPts val="600"/>
              </a:spcAft>
            </a:pP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Answer Relevance: answer addresses the question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Score 0–1: 1 = directly answers the question</a:t>
            </a:r>
            <a:endParaRPr lang="en-US" sz="1800" dirty="0"/>
          </a:p>
          <a:p>
            <a:pPr>
              <a:spcAft>
                <a:spcPts val="600"/>
              </a:spcAft>
            </a:pP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Context Precision: retrieved chunks are relevant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Score 0–1: 1 = all chunks are useful</a:t>
            </a:r>
            <a:endParaRPr lang="en-US" sz="1800" dirty="0"/>
          </a:p>
          <a:p>
            <a:pPr>
              <a:spcAft>
                <a:spcPts val="600"/>
              </a:spcAft>
            </a:pP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Context Recall: all relevant info was retrieved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Score 0–1: 1 = no important info was missed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LLM-as-Judge Evaluation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430000" cy="54864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ragas import evaluate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ragas.metrics import faithfulness, answer_relevancy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datasets import Dataset</a:t>
            </a:r>
            <a:pPr indent="0" marL="0">
              <a:spcAft>
                <a:spcPts val="200"/>
              </a:spcAft>
              <a:buNone/>
            </a:pP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Prepare evaluation data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{"question": questions,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"answer": generated_answers,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"contexts": retrieved_contexts,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"ground_truth": reference_answers}</a:t>
            </a:r>
            <a:pPr indent="0" marL="0">
              <a:spcAft>
                <a:spcPts val="200"/>
              </a:spcAft>
              <a:buNone/>
            </a:pP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 = Dataset.from_dict(data)</a:t>
            </a:r>
            <a:pPr indent="0" marL="0">
              <a:spcAft>
                <a:spcPts val="200"/>
              </a:spcAft>
              <a:buNone/>
            </a:pP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Run RAGAS evaluation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evaluate(dataset,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metrics=[faithfulness, answer_relevancy],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llm=ChatOpenAI(model="gpt-4o"))</a:t>
            </a:r>
            <a:pPr indent="0" marL="0">
              <a:spcAft>
                <a:spcPts val="200"/>
              </a:spcAft>
              <a:buNone/>
            </a:pP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print(result)  # → {faithfulness: 0.87, answer_relevancy: 0.91}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Testing for RAG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two RAG configurations systematically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to test: chunk size, embedding model, top-k, reranker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Metric: RAGAS scores + latency + user satisfaction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split: 50% → RAG-A, 50% → RAG-B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significance: need enough samples (n&gt;100)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 mode: run both, log results, no user impact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Gradual rollout: 10% → 25% → 50% → 100% on winner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Capstone: Enterprise AI Assistant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🏗  Project: Build a complete AI assistant for X-Company</a:t>
            </a:r>
            <a:endParaRPr lang="en-US" sz="1800" dirty="0"/>
          </a:p>
          <a:p>
            <a:pPr>
              <a:spcAft>
                <a:spcPts val="600"/>
              </a:spcAft>
            </a:pP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Components: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RAG pipeline: Thai HR &amp; policy documents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Knowledge Graph: org chart + project relationships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Multi-agent: HR agent + Finance agent + Ops agent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Interface: Telegram bot via OpenClaw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Evaluation: RAGAS dashboard</a:t>
            </a:r>
            <a:endParaRPr lang="en-US" sz="1800" dirty="0"/>
          </a:p>
          <a:p>
            <a:pPr>
              <a:spcAft>
                <a:spcPts val="600"/>
              </a:spcAft>
            </a:pP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Deliverable: Working demo + RAGAS score report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12188952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Wrap-up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3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Summary &amp; 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Day 1: RAG Pipeline — the foundation of enterprise AI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Day 2: Knowledge Graph — structured reasoning at scale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Day 3: AI Agents + AI OS — production deployment</a:t>
            </a:r>
            <a:endParaRPr lang="en-US" sz="1800" dirty="0"/>
          </a:p>
          <a:p>
            <a:pPr>
              <a:spcAft>
                <a:spcPts val="600"/>
              </a:spcAft>
            </a:pP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 Next Steps: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Deploy your RAG pipeline to production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Build domain-specific knowledge graph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Integrate with your business systems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Set up RAGAS CI/CD for continuous evaluation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Join X-Company AI Community for support</a:t>
            </a:r>
            <a:endParaRPr lang="en-US" sz="1800" dirty="0"/>
          </a:p>
          <a:p>
            <a:pPr>
              <a:spcAft>
                <a:spcPts val="600"/>
              </a:spcAft>
            </a:pP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🙏  Thank you! 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2026-03-08T01:35:56Z</dcterms:created>
  <dcterms:modified xsi:type="dcterms:W3CDTF">2026-03-08T01:35:56Z</dcterms:modified>
</cp:coreProperties>
</file>